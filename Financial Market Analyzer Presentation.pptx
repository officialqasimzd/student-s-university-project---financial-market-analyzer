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3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33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2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7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5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2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28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91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91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1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2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Financial Market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Stock &amp; Cryptocurrency Market Trend Visualization 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Statement and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Investors struggle to interpret large volumes of financial market data.</a:t>
            </a:r>
          </a:p>
          <a:p>
            <a:r>
              <a:rPr dirty="0"/>
              <a:t>Market trends change rapidly and require real-time monitoring.</a:t>
            </a:r>
          </a:p>
          <a:p>
            <a:r>
              <a:rPr dirty="0"/>
              <a:t>Technical indicators are difficult for beginners to understand.</a:t>
            </a:r>
          </a:p>
          <a:p>
            <a:r>
              <a:rPr dirty="0"/>
              <a:t>Goal: Develop an interactive visualization tool for market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3FFD3-9FF0-42C9-9113-6D10D05C4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014" y="4643903"/>
            <a:ext cx="3073945" cy="16580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Description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30419"/>
            <a:ext cx="7772400" cy="2298985"/>
          </a:xfrm>
        </p:spPr>
        <p:txBody>
          <a:bodyPr/>
          <a:lstStyle/>
          <a:p>
            <a:r>
              <a:rPr dirty="0"/>
              <a:t>Dataset includes stock/crypto prices, volume, and market indicators.</a:t>
            </a:r>
          </a:p>
          <a:p>
            <a:r>
              <a:rPr dirty="0"/>
              <a:t>Preprocessing steps: handling missing values, formatting dates, normalization.</a:t>
            </a:r>
          </a:p>
          <a:p>
            <a:r>
              <a:rPr dirty="0"/>
              <a:t>Calculated indicators: </a:t>
            </a:r>
            <a:r>
              <a:rPr dirty="0" err="1"/>
              <a:t>SMA</a:t>
            </a:r>
            <a:r>
              <a:rPr dirty="0"/>
              <a:t>, EMA, volatility, moving averages.</a:t>
            </a:r>
          </a:p>
          <a:p>
            <a:r>
              <a:rPr dirty="0"/>
              <a:t>Tools used: Python, Pandas, </a:t>
            </a:r>
            <a:r>
              <a:rPr dirty="0" err="1"/>
              <a:t>Plotly</a:t>
            </a:r>
            <a:r>
              <a:rPr dirty="0"/>
              <a:t>/Tableau/Power BI.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F533F8-3C54-4BCC-A743-AFD7D96F6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506" y="484632"/>
            <a:ext cx="2173449" cy="1223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5E984C-6D96-479A-B783-A046A2F89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176" y="4441370"/>
            <a:ext cx="4737228" cy="2004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Key Visualization: Price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72816"/>
            <a:ext cx="6676053" cy="1856793"/>
          </a:xfrm>
        </p:spPr>
        <p:txBody>
          <a:bodyPr>
            <a:normAutofit/>
          </a:bodyPr>
          <a:lstStyle/>
          <a:p>
            <a:r>
              <a:rPr lang="en-US" b="1" dirty="0"/>
              <a:t>Market Performance Overview (Jan – July 2025)</a:t>
            </a:r>
          </a:p>
          <a:p>
            <a:pPr lvl="1"/>
            <a:r>
              <a:rPr lang="en-US" dirty="0"/>
              <a:t>The asset demonstrated a consistent upward trajectory, growing from approximately </a:t>
            </a:r>
            <a:r>
              <a:rPr lang="en-US" b="1" dirty="0"/>
              <a:t>$100</a:t>
            </a:r>
            <a:r>
              <a:rPr lang="en-US" dirty="0"/>
              <a:t> in January to nearly </a:t>
            </a:r>
            <a:r>
              <a:rPr lang="en-US" b="1" dirty="0"/>
              <a:t>$240</a:t>
            </a:r>
            <a:r>
              <a:rPr lang="en-US" dirty="0"/>
              <a:t> by July.</a:t>
            </a:r>
          </a:p>
          <a:p>
            <a:pPr lvl="1"/>
            <a:r>
              <a:rPr lang="en-US" b="1" dirty="0"/>
              <a:t>Significant </a:t>
            </a:r>
            <a:r>
              <a:rPr lang="en-US" dirty="0"/>
              <a:t>Represents a price increase of roughly </a:t>
            </a:r>
            <a:r>
              <a:rPr lang="en-US" b="1" dirty="0"/>
              <a:t>140%</a:t>
            </a:r>
            <a:r>
              <a:rPr lang="en-US" dirty="0"/>
              <a:t> over a six-month period.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09280-ADE5-4D6D-8849-27FF3361C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10" y="3629609"/>
            <a:ext cx="6055568" cy="28555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37647"/>
            <a:ext cx="7772400" cy="1609344"/>
          </a:xfrm>
        </p:spPr>
        <p:txBody>
          <a:bodyPr/>
          <a:lstStyle/>
          <a:p>
            <a:r>
              <a:rPr lang="en-US" dirty="0"/>
              <a:t>Daily Return Distribution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94" y="1645547"/>
            <a:ext cx="7772400" cy="21520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This histogram showing how frequently different levels of returns occur over a specific period.</a:t>
            </a:r>
          </a:p>
          <a:p>
            <a:pPr lvl="1"/>
            <a:r>
              <a:rPr lang="en-US" b="1" dirty="0"/>
              <a:t>Central Tendency:</a:t>
            </a:r>
            <a:r>
              <a:rPr lang="en-US" dirty="0"/>
              <a:t> The distribution is centered slightly above </a:t>
            </a:r>
            <a:r>
              <a:rPr lang="en-US" b="1" dirty="0"/>
              <a:t>0.00</a:t>
            </a:r>
            <a:r>
              <a:rPr lang="en-US" dirty="0"/>
              <a:t>, indicating a positive average daily return, with most data points clustering between -0.01 and +0.02.</a:t>
            </a:r>
          </a:p>
          <a:p>
            <a:pPr lvl="1"/>
            <a:r>
              <a:rPr lang="en-US" b="1" dirty="0"/>
              <a:t>Volatility &amp; Shape:</a:t>
            </a:r>
            <a:r>
              <a:rPr lang="en-US" dirty="0"/>
              <a:t> The bell-shaped curve (Kernel Density Estimate) suggests the returns are roughly </a:t>
            </a:r>
            <a:r>
              <a:rPr lang="en-US" b="1" dirty="0"/>
              <a:t>normally distributed</a:t>
            </a:r>
            <a:r>
              <a:rPr lang="en-US" dirty="0"/>
              <a:t>, though the "tails" at the far left and right represent the risk of extreme price movements.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D7E33F-222B-4796-8088-BF0DC9994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334" y="3712837"/>
            <a:ext cx="4291623" cy="27456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16681"/>
            <a:ext cx="7772400" cy="1609344"/>
          </a:xfrm>
        </p:spPr>
        <p:txBody>
          <a:bodyPr/>
          <a:lstStyle/>
          <a:p>
            <a:r>
              <a:rPr lang="en-US" dirty="0" err="1"/>
              <a:t>SMA</a:t>
            </a:r>
            <a:r>
              <a:rPr lang="en-US" dirty="0"/>
              <a:t> vs EMA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88" y="1648433"/>
            <a:ext cx="7772400" cy="198406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Two lines to summarize the chart's main takeaway:</a:t>
            </a:r>
          </a:p>
          <a:p>
            <a:pPr lvl="1"/>
            <a:r>
              <a:rPr lang="en-US" b="1" dirty="0"/>
              <a:t>Trend Confirmation:</a:t>
            </a:r>
            <a:r>
              <a:rPr lang="en-US" dirty="0"/>
              <a:t> Both the 10-period </a:t>
            </a:r>
            <a:r>
              <a:rPr lang="en-US" dirty="0" err="1"/>
              <a:t>SMA</a:t>
            </a:r>
            <a:r>
              <a:rPr lang="en-US" dirty="0"/>
              <a:t> and EMA confirm a strong, consistent bullish trend as the closing price remains predominantly above both moving averages.</a:t>
            </a:r>
          </a:p>
          <a:p>
            <a:pPr lvl="1"/>
            <a:r>
              <a:rPr lang="en-US" b="1" dirty="0"/>
              <a:t>Responsiveness Gap:</a:t>
            </a:r>
            <a:r>
              <a:rPr lang="en-US" dirty="0"/>
              <a:t> The EMA (green) reacts more quickly to recent price fluctuations than the </a:t>
            </a:r>
            <a:r>
              <a:rPr lang="en-US" dirty="0" err="1"/>
              <a:t>SMA</a:t>
            </a:r>
            <a:r>
              <a:rPr lang="en-US" dirty="0"/>
              <a:t> (orange), providing a more sensitive indicator for short-term momentum shifts.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B92246-F377-499E-941F-C15288A61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28" y="3629135"/>
            <a:ext cx="6167535" cy="28540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Bollinger Bands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64" y="1819469"/>
            <a:ext cx="7772400" cy="17634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Bollinger Bands technical indicator highlights a strong </a:t>
            </a:r>
            <a:r>
              <a:rPr lang="en-US" b="1" dirty="0"/>
              <a:t>upward trend</a:t>
            </a:r>
            <a:r>
              <a:rPr lang="en-US" dirty="0"/>
              <a:t> and high price volatility from January to July 2025.</a:t>
            </a:r>
          </a:p>
          <a:p>
            <a:r>
              <a:rPr lang="en-US" dirty="0"/>
              <a:t>The price (blue line) consistently tracks near or above the </a:t>
            </a:r>
            <a:r>
              <a:rPr lang="en-US" b="1" dirty="0"/>
              <a:t>Upper Band</a:t>
            </a:r>
            <a:r>
              <a:rPr lang="en-US" dirty="0"/>
              <a:t> (orange), signaling a period of sustained bullish momentum and overbought conditions.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7CB95C-CA23-4E5F-A071-E945C3A16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878" y="3804301"/>
            <a:ext cx="5551714" cy="25690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4. Dashboard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2642618"/>
          </a:xfrm>
        </p:spPr>
        <p:txBody>
          <a:bodyPr>
            <a:normAutofit/>
          </a:bodyPr>
          <a:lstStyle/>
          <a:p>
            <a:r>
              <a:rPr dirty="0"/>
              <a:t>Dashboard Features:</a:t>
            </a:r>
          </a:p>
          <a:p>
            <a:pPr lvl="1"/>
            <a:r>
              <a:rPr dirty="0"/>
              <a:t>Real-time stock and crypto tracking</a:t>
            </a:r>
          </a:p>
          <a:p>
            <a:pPr lvl="1"/>
            <a:r>
              <a:rPr dirty="0"/>
              <a:t>Interactive candlestick charts</a:t>
            </a:r>
            <a:endParaRPr lang="en-US" dirty="0"/>
          </a:p>
          <a:p>
            <a:pPr lvl="1"/>
            <a:r>
              <a:rPr lang="en-US" dirty="0"/>
              <a:t>Close Price  Trend</a:t>
            </a:r>
          </a:p>
          <a:p>
            <a:pPr lvl="1"/>
            <a:r>
              <a:rPr lang="en-US" dirty="0"/>
              <a:t>Daily Return Distribution</a:t>
            </a:r>
          </a:p>
          <a:p>
            <a:pPr lvl="1"/>
            <a:r>
              <a:rPr lang="en-US" dirty="0" err="1"/>
              <a:t>SMA</a:t>
            </a:r>
            <a:r>
              <a:rPr lang="en-US" dirty="0"/>
              <a:t> vs EMA Analysis</a:t>
            </a:r>
            <a:endParaRPr dirty="0"/>
          </a:p>
          <a:p>
            <a:pPr lvl="1"/>
            <a:r>
              <a:rPr dirty="0"/>
              <a:t>Technical indicators and filtering</a:t>
            </a:r>
          </a:p>
          <a:p>
            <a:pPr lvl="1"/>
            <a:r>
              <a:rPr dirty="0"/>
              <a:t>User-friendly analytics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Insights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7"/>
            <a:ext cx="7772400" cy="3598258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dirty="0"/>
              <a:t>Key Insights:</a:t>
            </a:r>
          </a:p>
          <a:p>
            <a:pPr lvl="1">
              <a:lnSpc>
                <a:spcPct val="200000"/>
              </a:lnSpc>
            </a:pPr>
            <a:r>
              <a:rPr dirty="0"/>
              <a:t>Upward price trends were confirmed by </a:t>
            </a:r>
            <a:r>
              <a:rPr dirty="0" err="1"/>
              <a:t>SMA</a:t>
            </a:r>
            <a:r>
              <a:rPr dirty="0"/>
              <a:t> and EMA indicators.</a:t>
            </a:r>
          </a:p>
          <a:p>
            <a:pPr lvl="1">
              <a:lnSpc>
                <a:spcPct val="200000"/>
              </a:lnSpc>
            </a:pPr>
            <a:r>
              <a:rPr dirty="0"/>
              <a:t>High trading volume often preceded sharp price changes.</a:t>
            </a:r>
          </a:p>
          <a:p>
            <a:pPr lvl="1">
              <a:lnSpc>
                <a:spcPct val="200000"/>
              </a:lnSpc>
            </a:pPr>
            <a:r>
              <a:rPr dirty="0"/>
              <a:t>Increased volatility indicated uncertain market conditions.</a:t>
            </a:r>
          </a:p>
          <a:p>
            <a:pPr lvl="1">
              <a:lnSpc>
                <a:spcPct val="200000"/>
              </a:lnSpc>
            </a:pPr>
            <a:r>
              <a:rPr dirty="0"/>
              <a:t>Recommendation: Combine technical indicators with risk management strategies.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Challenges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dirty="0"/>
              <a:t>Challenges:</a:t>
            </a:r>
          </a:p>
          <a:p>
            <a:pPr lvl="1">
              <a:lnSpc>
                <a:spcPct val="200000"/>
              </a:lnSpc>
            </a:pPr>
            <a:r>
              <a:rPr dirty="0"/>
              <a:t>Real-time data integration and API limitations.</a:t>
            </a:r>
          </a:p>
          <a:p>
            <a:pPr lvl="1">
              <a:lnSpc>
                <a:spcPct val="200000"/>
              </a:lnSpc>
            </a:pPr>
            <a:r>
              <a:rPr dirty="0"/>
              <a:t>Noise and unpredictability in financial markets.</a:t>
            </a:r>
          </a:p>
          <a:p>
            <a:pPr lvl="1">
              <a:lnSpc>
                <a:spcPct val="200000"/>
              </a:lnSpc>
            </a:pPr>
            <a:r>
              <a:rPr dirty="0"/>
              <a:t>Handling large-scale streaming datasets.</a:t>
            </a:r>
          </a:p>
          <a:p>
            <a:pPr lvl="1">
              <a:lnSpc>
                <a:spcPct val="200000"/>
              </a:lnSpc>
            </a:pPr>
            <a:r>
              <a:rPr dirty="0"/>
              <a:t>Future Work: Add AI-based forecasting and sentiment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7.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135</TotalTime>
  <Words>495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Rockwell</vt:lpstr>
      <vt:lpstr>Rockwell Condensed</vt:lpstr>
      <vt:lpstr>Wingdings</vt:lpstr>
      <vt:lpstr>Wood Type</vt:lpstr>
      <vt:lpstr>Financial Market Analyzer</vt:lpstr>
      <vt:lpstr>1. Problem Statement and Motivation</vt:lpstr>
      <vt:lpstr>2. Data Description and Preprocessing</vt:lpstr>
      <vt:lpstr>3. Key Visualization: Price Trend</vt:lpstr>
      <vt:lpstr>Daily Return Distribution</vt:lpstr>
      <vt:lpstr>SMA vs EMA Analysis</vt:lpstr>
      <vt:lpstr>Bollinger Bands</vt:lpstr>
      <vt:lpstr>4. Dashboard Demonstration</vt:lpstr>
      <vt:lpstr>5. Insights and Recommendations</vt:lpstr>
      <vt:lpstr>6. Challenges and Future Work</vt:lpstr>
      <vt:lpstr>7.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Market Analyzer</dc:title>
  <dc:subject/>
  <dc:creator>LENOVO</dc:creator>
  <cp:keywords/>
  <dc:description>generated using python-pptx</dc:description>
  <cp:lastModifiedBy>Syed Muhammad Qasim Zaidi</cp:lastModifiedBy>
  <cp:revision>8</cp:revision>
  <dcterms:created xsi:type="dcterms:W3CDTF">2013-01-27T09:14:16Z</dcterms:created>
  <dcterms:modified xsi:type="dcterms:W3CDTF">2026-05-15T14:41:08Z</dcterms:modified>
  <cp:category/>
</cp:coreProperties>
</file>